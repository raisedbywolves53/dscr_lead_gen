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731520" y="128016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DSCR Lead Intelligence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680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Mind Creative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8346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Scored, Enriched Investor Dossiers — For DSCR Mortgage Originators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[Loan Officer Name]  ·  March 2026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E65100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Investor Lead Lists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05840"/>
            <a:ext cx="54864" cy="164592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♻  Recycled 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LO in your market is buying the same PropStream list. No edge, no differentiation.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63440" y="1005840"/>
            <a:ext cx="54864" cy="164592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9" name="Text 7"/>
          <p:cNvSpPr/>
          <p:nvPr/>
        </p:nvSpPr>
        <p:spPr>
          <a:xfrm>
            <a:off x="4846320" y="1170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❓  No Scoring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846320" y="160020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names with zero intelligence. Who’s actually a DSCR candidate? You’re guessing.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402336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7200" y="2880360"/>
            <a:ext cx="54864" cy="164592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044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☎  Wrong Numbers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40–60% of skip-traced phone numbers are disconnected or wrong person. Wasted dials.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645920"/>
          </a:xfrm>
          <a:prstGeom prst="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2880360"/>
            <a:ext cx="54864" cy="164592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304495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 Zero Intel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46320" y="3474720"/>
            <a:ext cx="36576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phone. That’s it. No portfolio data, no equity estimates, no talking points.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463040"/>
            <a:ext cx="7315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you only called investors</a:t>
            </a:r>
            <a:endParaRPr lang="en-US" sz="2800" dirty="0"/>
          </a:p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actually need DSCR financing?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30175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you knew their portfolio size, equity position, lender, rate,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exactly what to say?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840480" y="4114800"/>
            <a:ext cx="1463040" cy="36576"/>
          </a:xfrm>
          <a:prstGeom prst="rect">
            <a:avLst/>
          </a:prstGeom>
          <a:solidFill>
            <a:srgbClr val="00796B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 Built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274320" y="1097280"/>
            <a:ext cx="1631290" cy="2377440"/>
          </a:xfrm>
          <a:prstGeom prst="rect">
            <a:avLst>
              <a:gd name="adj" fmla="val 4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274320" y="1097280"/>
            <a:ext cx="54864" cy="237744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88797" y="1280160"/>
            <a:ext cx="402336" cy="402336"/>
          </a:xfrm>
          <a:prstGeom prst="ellipse">
            <a:avLst/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88797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783080"/>
            <a:ext cx="1448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Property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377440"/>
            <a:ext cx="14484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property ownership and valuation data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887322" y="21031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015338" y="1097280"/>
            <a:ext cx="1631290" cy="2377440"/>
          </a:xfrm>
          <a:prstGeom prst="rect">
            <a:avLst>
              <a:gd name="adj" fmla="val 4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2015338" y="1097280"/>
            <a:ext cx="54864" cy="237744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629814" y="1280160"/>
            <a:ext cx="402336" cy="402336"/>
          </a:xfrm>
          <a:prstGeom prst="ellipse">
            <a:avLst/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629814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106778" y="1783080"/>
            <a:ext cx="1448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ICP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Scoring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6778" y="2377440"/>
            <a:ext cx="14484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investment signals, weighted scoring, tier assignment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28339" y="21031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756355" y="1097280"/>
            <a:ext cx="1631290" cy="2377440"/>
          </a:xfrm>
          <a:prstGeom prst="rect">
            <a:avLst>
              <a:gd name="adj" fmla="val 4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3756355" y="1097280"/>
            <a:ext cx="54864" cy="237744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370832" y="1280160"/>
            <a:ext cx="402336" cy="402336"/>
          </a:xfrm>
          <a:prstGeom prst="ellipse">
            <a:avLst/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70832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847795" y="1783080"/>
            <a:ext cx="1448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Entity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Resolution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847795" y="2377440"/>
            <a:ext cx="14484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LLC / Trust / Corp → verified decision maker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369357" y="21031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497373" y="1097280"/>
            <a:ext cx="1631290" cy="2377440"/>
          </a:xfrm>
          <a:prstGeom prst="rect">
            <a:avLst>
              <a:gd name="adj" fmla="val 4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5497373" y="1097280"/>
            <a:ext cx="54864" cy="237744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111850" y="1280160"/>
            <a:ext cx="402336" cy="402336"/>
          </a:xfrm>
          <a:prstGeom prst="ellipse">
            <a:avLst/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6111850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588813" y="1783080"/>
            <a:ext cx="1448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Skip Trace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 Validate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588813" y="2377440"/>
            <a:ext cx="14484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phone, email, carrier validation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10374" y="2103120"/>
            <a:ext cx="1463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7238390" y="1097280"/>
            <a:ext cx="1631290" cy="2377440"/>
          </a:xfrm>
          <a:prstGeom prst="rect">
            <a:avLst>
              <a:gd name="adj" fmla="val 448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238390" y="1097280"/>
            <a:ext cx="54864" cy="237744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852867" y="1280160"/>
            <a:ext cx="402336" cy="402336"/>
          </a:xfrm>
          <a:prstGeom prst="ellipse">
            <a:avLst/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7852867" y="12801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329830" y="1783080"/>
            <a:ext cx="144841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Dossier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29830" y="2377440"/>
            <a:ext cx="144841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profile with financing intel + talking points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 scoring methodology. No purchased lists. No recycled leads. Exclusive to you.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Investor Dossier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3749040"/>
          </a:xfrm>
          <a:prstGeom prst="rect">
            <a:avLst>
              <a:gd name="adj" fmla="val 19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05840"/>
            <a:ext cx="54864" cy="374904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12064" y="1005840"/>
            <a:ext cx="8119872" cy="594360"/>
          </a:xfrm>
          <a:prstGeom prst="rect">
            <a:avLst>
              <a:gd name="adj" fmla="val 9231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024128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Trident Capital Holdings LLC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0" y="1097280"/>
            <a:ext cx="914400" cy="411480"/>
          </a:xfrm>
          <a:prstGeom prst="rect">
            <a:avLst>
              <a:gd name="adj" fmla="val 13333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583680" y="10972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82 / 100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635240" y="1097280"/>
            <a:ext cx="777240" cy="411480"/>
          </a:xfrm>
          <a:prstGeom prst="rect">
            <a:avLst>
              <a:gd name="adj" fmla="val 13333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7635240" y="1097280"/>
            <a:ext cx="777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Tier 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Contact Information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210312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Maker:   Marcus D. Castellano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(Mobile):   (919) 555-0198  ✓ Verified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          m.castellano@tridentcap.com  ✓ Valid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Status:    Active LLC — State Corporate Registry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754880" y="17830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Portfolio Summary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103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Properties:       18 investment properties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Value:      $3,800,000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Equity:     $2,400,000 (63%)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Hold Period:  4.1 years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85800" y="32461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Financing Intelligence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85800" y="35661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Lender:    Regional bank (conventional)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Rate:      7.8%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Maturity:          14 months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 Priority:     ⬆ HIGH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54880" y="3246120"/>
            <a:ext cx="3749040" cy="1325880"/>
          </a:xfrm>
          <a:prstGeom prst="rect">
            <a:avLst>
              <a:gd name="adj" fmla="val 4138"/>
            </a:avLst>
          </a:prstGeom>
          <a:solidFill>
            <a:srgbClr val="FFF3E0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937760" y="329184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⚡ HIGH REFI PRIORITY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37760" y="3611880"/>
            <a:ext cx="338328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rate of 7.8% across 18 properties with $2.4M in equity. Cash-out refi at current DSCR rates unlocks ~$600K for next acquisition. Portfolio consolidation opportunity.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Per-Property Detail + Talking Points</a:t>
            </a:r>
            <a:endParaRPr lang="en-US" sz="2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60120"/>
          <a:ext cx="8412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68680"/>
                <a:gridCol w="1371600"/>
                <a:gridCol w="685800"/>
                <a:gridCol w="777240"/>
                <a:gridCol w="86868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Address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Value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Lender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Rate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Maturity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Equity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412 Oak Ridge Dr, Raleigh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Money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$142,000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8901 Sunset Blvd, Cary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Money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$158,000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1533 Pine Valley Ln, Durham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Wells Fargo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yr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207 Maple Creek Ct, Apex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$195,000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Money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6644 Elm St, Raleigh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$140,000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903 Birch Hill Rd, Garner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Private Lender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2210 Cedar Park Way, Cary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Money LLC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$170,000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5518 Willow Springs, Holly Spgs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Purchase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$155,000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365760" y="3383280"/>
            <a:ext cx="8412480" cy="1554480"/>
          </a:xfrm>
          <a:prstGeom prst="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2"/>
          <p:cNvSpPr/>
          <p:nvPr/>
        </p:nvSpPr>
        <p:spPr>
          <a:xfrm>
            <a:off x="365760" y="3383280"/>
            <a:ext cx="54864" cy="155448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594360" y="34747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Talking Points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94360" y="3794760"/>
            <a:ext cx="7955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With 18 properties and $2.4M in equity, a portfolio DSCR refi can consolidate your financing and improve cash flow across the board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Your current rate of 7.8% is above today’s best DSCR rates — a rate-and-term refi could save meaningful monthly cash flow</a:t>
            </a:r>
            <a:pPr indent="0" marL="0">
              <a:lnSpc>
                <a:spcPts val="1700"/>
              </a:lnSpc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At 63% equity, a cash-out refi at 75% LTV frees up ~$600K for your next acquisition without selling anything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By The Numbers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4068" y="1463040"/>
            <a:ext cx="1828800" cy="2194560"/>
          </a:xfrm>
          <a:prstGeom prst="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E2E8F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4068" y="1463040"/>
            <a:ext cx="54864" cy="21945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544068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684,895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81228" y="2651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Properties Analyzed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19756" y="1463040"/>
            <a:ext cx="1828800" cy="2194560"/>
          </a:xfrm>
          <a:prstGeom prst="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E2E8F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619756" y="1463040"/>
            <a:ext cx="54864" cy="21945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619756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65,942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2756916" y="2651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 Investor Leads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95444" y="1463040"/>
            <a:ext cx="1828800" cy="2194560"/>
          </a:xfrm>
          <a:prstGeom prst="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E2E8F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4695444" y="1463040"/>
            <a:ext cx="54864" cy="21945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95444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32604" y="2651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Scoring Signals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771132" y="1463040"/>
            <a:ext cx="1828800" cy="2194560"/>
          </a:xfrm>
          <a:prstGeom prst="rect">
            <a:avLst>
              <a:gd name="adj" fmla="val 4000"/>
            </a:avLst>
          </a:prstGeom>
          <a:solidFill>
            <a:srgbClr val="F1F5F9"/>
          </a:solidFill>
          <a:ln/>
          <a:effectLst>
            <a:outerShdw sx="100000" sy="100000" kx="0" ky="0" algn="bl" rotWithShape="0" blurRad="76200" dist="25400" dir="8100000">
              <a:srgbClr val="E2E8F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771132" y="1463040"/>
            <a:ext cx="54864" cy="21945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771132" y="17830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157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6908292" y="2651760"/>
            <a:ext cx="15544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Fields Per Lead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We Score Investors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256032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48640" y="1051560"/>
            <a:ext cx="54864" cy="141732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13232" y="11612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🏠  Portfolio 5+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1179576"/>
            <a:ext cx="640080" cy="256032"/>
          </a:xfrm>
          <a:prstGeom prst="rect">
            <a:avLst>
              <a:gd name="adj" fmla="val 14286"/>
            </a:avLst>
          </a:prstGeom>
          <a:solidFill>
            <a:srgbClr val="E0F2F1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1229576"/>
            <a:ext cx="640080" cy="230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+20 pts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13232" y="1554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5+ investment properties in your market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051560"/>
            <a:ext cx="256032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291840" y="1051560"/>
            <a:ext cx="54864" cy="141732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456432" y="11612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✈  Out-of-State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0" y="1179576"/>
            <a:ext cx="640080" cy="256032"/>
          </a:xfrm>
          <a:prstGeom prst="rect">
            <a:avLst>
              <a:gd name="adj" fmla="val 14286"/>
            </a:avLst>
          </a:prstGeom>
          <a:solidFill>
            <a:srgbClr val="E0F2F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029200" y="1229576"/>
            <a:ext cx="640080" cy="230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 pts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456432" y="1554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Mailing address outside the state = confirmed investor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051560"/>
            <a:ext cx="256032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6035040" y="1051560"/>
            <a:ext cx="54864" cy="141732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199632" y="11612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💵  Cash Buyer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772400" y="1179576"/>
            <a:ext cx="640080" cy="256032"/>
          </a:xfrm>
          <a:prstGeom prst="rect">
            <a:avLst>
              <a:gd name="adj" fmla="val 14286"/>
            </a:avLst>
          </a:prstGeom>
          <a:solidFill>
            <a:srgbClr val="E0F2F1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772400" y="1229576"/>
            <a:ext cx="640080" cy="230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+15 pts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199632" y="15544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recorded mortgage = prime cash-out refi candidate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2651760"/>
            <a:ext cx="256032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548640" y="2651760"/>
            <a:ext cx="54864" cy="141732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3232" y="2761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🏢  LLC / Entity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86000" y="2779776"/>
            <a:ext cx="640080" cy="256032"/>
          </a:xfrm>
          <a:prstGeom prst="rect">
            <a:avLst>
              <a:gd name="adj" fmla="val 14286"/>
            </a:avLst>
          </a:prstGeom>
          <a:solidFill>
            <a:srgbClr val="E0F2F1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2286000" y="2829776"/>
            <a:ext cx="640080" cy="230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pts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13232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as LLC/Corp/Trust = sophisticated investor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91840" y="2651760"/>
            <a:ext cx="256032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291840" y="2651760"/>
            <a:ext cx="54864" cy="141732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456432" y="2761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🎯  Value Sweet Spot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029200" y="2779776"/>
            <a:ext cx="640080" cy="256032"/>
          </a:xfrm>
          <a:prstGeom prst="rect">
            <a:avLst>
              <a:gd name="adj" fmla="val 14286"/>
            </a:avLst>
          </a:prstGeom>
          <a:solidFill>
            <a:srgbClr val="E0F2F1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5029200" y="2829776"/>
            <a:ext cx="640080" cy="230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pts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456432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$150K–$500K = highest-volume DSCR loan range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6035040" y="2651760"/>
            <a:ext cx="2560320" cy="1417320"/>
          </a:xfrm>
          <a:prstGeom prst="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6035040" y="2651760"/>
            <a:ext cx="54864" cy="141732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6199632" y="2761488"/>
            <a:ext cx="2240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🔑  Recent Purchase</a:t>
            </a:r>
            <a:endParaRPr lang="en-US" sz="1300" dirty="0"/>
          </a:p>
          <a:p>
            <a:pPr>
              <a:spcBef>
                <a:spcPts val="1200"/>
              </a:spcBef>
            </a:pPr>
            <a:r>
              <a:rPr sz="900" i="1">
                <a:solidFill>
                  <a:srgbClr val="94A3B8"/>
                </a:solidFill>
              </a:rPr>
              <a:t/>
            </a:r>
          </a:p>
        </p:txBody>
      </p:sp>
      <p:sp>
        <p:nvSpPr>
          <p:cNvPr id="36" name="Shape 34"/>
          <p:cNvSpPr/>
          <p:nvPr/>
        </p:nvSpPr>
        <p:spPr>
          <a:xfrm>
            <a:off x="7772400" y="2779776"/>
            <a:ext cx="640080" cy="256032"/>
          </a:xfrm>
          <a:prstGeom prst="rect">
            <a:avLst>
              <a:gd name="adj" fmla="val 14286"/>
            </a:avLst>
          </a:prstGeom>
          <a:solidFill>
            <a:srgbClr val="E0F2F1"/>
          </a:solidFill>
          <a:ln/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7772400" y="2829776"/>
            <a:ext cx="640080" cy="2304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+10 pts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199632" y="3154680"/>
            <a:ext cx="22402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Bought within 12 months = active acquirer</a:t>
            </a:r>
            <a:endParaRPr lang="en-US" sz="1050" dirty="0"/>
          </a:p>
        </p:txBody>
      </p:sp>
      <p:sp>
        <p:nvSpPr>
          <p:cNvPr id="39" name="TextBox 38"/>
          <p:cNvSpPr txBox="1"/>
          <p:nvPr/>
        </p:nvSpPr>
        <p:spPr>
          <a:xfrm>
            <a:off x="548640" y="4200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i="1">
                <a:solidFill>
                  <a:srgbClr val="94A3B8"/>
                </a:solidFill>
              </a:rPr>
              <a:t>Scoring model validated against FL deployment (7,537 leads) and calibrated for NC market characteristics.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1: Lead Intelligence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Scored leads with contact data. You run the outreach.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256032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What’s Included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Scored investor leads matched to your market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Verified phone + email for every lead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Portfolio summary (property count, estimated value)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financing indicators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Entity resolution (LLC → real decision maker)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talking points per investor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Monthly refresh with new leads + updated data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94960" y="1097280"/>
            <a:ext cx="33832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394960" y="1097280"/>
            <a:ext cx="54864" cy="256032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2356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Pricing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017520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96012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Price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Leads/Mo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• 2 counties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750 • 5 counties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Enterprise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Full state • Weekly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9"/>
          <p:cNvSpPr/>
          <p:nvPr/>
        </p:nvSpPr>
        <p:spPr>
          <a:xfrm>
            <a:off x="5577840" y="274320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monthly refresh  |  Pro: bi-weekly  |  Enterprise: weekly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Program 2: Done-For-You Outbound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intelligence + outreach execution. You just take the meetings.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47548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57200" y="1097280"/>
            <a:ext cx="54864" cy="256032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85800" y="11887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What’s Included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508760"/>
            <a:ext cx="43434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Full investor dossiers with deep financing intelligence, plus: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Multi-channel outreach (email + direct mail + LinkedIn)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Custom email sequences written for DSCR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Campaign management and A/B testing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Lead nurturing and follow-up automation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Weekly reporting on opens, replies, meetings booked
</a:t>
            </a:r>
            <a:pPr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Dedicated campaign manager
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394960" y="1097280"/>
            <a:ext cx="3383280" cy="2560320"/>
          </a:xfrm>
          <a:prstGeom prst="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5394960" y="1097280"/>
            <a:ext cx="54864" cy="256032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623560" y="11887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█ Pricing</a:t>
            </a:r>
            <a:endParaRPr lang="en-US" sz="1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554480"/>
          <a:ext cx="3017520" cy="914400"/>
        </p:xfrm>
        <a:graphic>
          <a:graphicData uri="http://schemas.openxmlformats.org/drawingml/2006/table">
            <a:tbl>
              <a:tblPr/>
              <a:tblGrid>
                <a:gridCol w="777240"/>
                <a:gridCol w="960120"/>
                <a:gridCol w="12801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Tier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Price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Scope</a:t>
                      </a:r>
                      <a:endParaRPr lang="en-US" sz="9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$3,500/mo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leads + email + DM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1K leads + email + DM + LI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$7,500/mo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2K+ leads + full multi-ch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Math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54380" y="1051560"/>
            <a:ext cx="2423160" cy="1371600"/>
          </a:xfrm>
          <a:prstGeom prst="rect">
            <a:avLst>
              <a:gd name="adj" fmla="val 5333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54380" y="1051560"/>
            <a:ext cx="54864" cy="137160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5" name="Text 3"/>
          <p:cNvSpPr/>
          <p:nvPr/>
        </p:nvSpPr>
        <p:spPr>
          <a:xfrm>
            <a:off x="891540" y="1188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$6,000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91540" y="17373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DSCR Commission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91540" y="2103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1–2.5% on $300K–$500K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360420" y="1051560"/>
            <a:ext cx="2423160" cy="1371600"/>
          </a:xfrm>
          <a:prstGeom prst="rect">
            <a:avLst>
              <a:gd name="adj" fmla="val 5333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60420" y="1051560"/>
            <a:ext cx="54864" cy="137160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10" name="Text 8"/>
          <p:cNvSpPr/>
          <p:nvPr/>
        </p:nvSpPr>
        <p:spPr>
          <a:xfrm>
            <a:off x="3497580" y="1188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$500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497580" y="17373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Cost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497580" y="210312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Tier 1 dossiers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66460" y="1051560"/>
            <a:ext cx="2423160" cy="1371600"/>
          </a:xfrm>
          <a:prstGeom prst="rect">
            <a:avLst>
              <a:gd name="adj" fmla="val 5333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66460" y="1051560"/>
            <a:ext cx="54864" cy="137160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15" name="Text 13"/>
          <p:cNvSpPr/>
          <p:nvPr/>
        </p:nvSpPr>
        <p:spPr>
          <a:xfrm>
            <a:off x="6103620" y="1188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103620" y="173736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Break Even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Pilot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54380" y="2606040"/>
            <a:ext cx="2423160" cy="1371600"/>
          </a:xfrm>
          <a:prstGeom prst="rect">
            <a:avLst>
              <a:gd name="adj" fmla="val 5333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54380" y="2606040"/>
            <a:ext cx="54864" cy="137160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19" name="Text 17"/>
          <p:cNvSpPr/>
          <p:nvPr/>
        </p:nvSpPr>
        <p:spPr>
          <a:xfrm>
            <a:off x="89154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$1,500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91540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 Monthly Cost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91540" y="36576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250 leads/mo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360420" y="2606040"/>
            <a:ext cx="2423160" cy="1371600"/>
          </a:xfrm>
          <a:prstGeom prst="rect">
            <a:avLst>
              <a:gd name="adj" fmla="val 5333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360420" y="2606040"/>
            <a:ext cx="54864" cy="137160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24" name="Text 22"/>
          <p:cNvSpPr/>
          <p:nvPr/>
        </p:nvSpPr>
        <p:spPr>
          <a:xfrm>
            <a:off x="349758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97580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Deals to Break Even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Starter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66460" y="2606040"/>
            <a:ext cx="2423160" cy="1371600"/>
          </a:xfrm>
          <a:prstGeom prst="rect">
            <a:avLst>
              <a:gd name="adj" fmla="val 5333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966460" y="2606040"/>
            <a:ext cx="54864" cy="137160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</p:sp>
      <p:sp>
        <p:nvSpPr>
          <p:cNvPr id="28" name="Text 26"/>
          <p:cNvSpPr/>
          <p:nvPr/>
        </p:nvSpPr>
        <p:spPr>
          <a:xfrm>
            <a:off x="6103620" y="274320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$30,000+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103620" y="3291840"/>
            <a:ext cx="21488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Investor LTV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03620" y="3657600"/>
            <a:ext cx="214884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loans over time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14400" y="3931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funded deal pays for the pilot 12x over. One repeat investor relationship covers a full year of Pro.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vs. What You Use Now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0120"/>
          <a:ext cx="8595360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051560"/>
                <a:gridCol w="1051560"/>
                <a:gridCol w="914400"/>
                <a:gridCol w="105156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Feature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PropStream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Zillow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Lead Gen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Agency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DIY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Cold Call</a:t>
                      </a:r>
                      <a:endParaRPr lang="en-US" sz="85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Investor scoring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signals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Basic filters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Entity resolution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SoS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Rarely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Per-property mortgage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 contact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Phone+email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only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Skip trace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Talking points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AI-gen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Exclusivity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 Market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6282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✗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Varies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2E7D3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✓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$1,500/mo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$99/mo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$3K–10K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Your time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50" b="1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Intelligence depth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0796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157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~20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~30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dirty="0">
                          <a:solidFill>
                            <a:srgbClr val="2121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 fields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51560"/>
            <a:ext cx="54864" cy="5943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143000"/>
            <a:ext cx="402336" cy="40233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14300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069848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Kickoff Call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91840" y="1069848"/>
            <a:ext cx="4754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30-min call to define your target market, counties, and ideal investor profile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1755648"/>
            <a:ext cx="768096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755648"/>
            <a:ext cx="54864" cy="5943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1847088"/>
            <a:ext cx="402336" cy="40233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84708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63040" y="1773936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 Analysis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773936"/>
            <a:ext cx="4754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pull every property record in your market and score against 12 investor signals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2459736"/>
            <a:ext cx="768096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459736"/>
            <a:ext cx="54864" cy="5943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2551176"/>
            <a:ext cx="402336" cy="40233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255117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63040" y="2478024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Enrichment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291840" y="2478024"/>
            <a:ext cx="4754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resolution, skip trace, phone/email validation, mortgage data, wealth signals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163824"/>
            <a:ext cx="768096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163824"/>
            <a:ext cx="54864" cy="5943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23" name="Shape 21"/>
          <p:cNvSpPr/>
          <p:nvPr/>
        </p:nvSpPr>
        <p:spPr>
          <a:xfrm>
            <a:off x="914400" y="3255264"/>
            <a:ext cx="402336" cy="40233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24" name="Text 22"/>
          <p:cNvSpPr/>
          <p:nvPr/>
        </p:nvSpPr>
        <p:spPr>
          <a:xfrm>
            <a:off x="914400" y="32552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1463040" y="3182112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Delivery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182112"/>
            <a:ext cx="4754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enriched dossiers delivered via Google Sheets with walkthrough call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867912"/>
            <a:ext cx="7680960" cy="594360"/>
          </a:xfrm>
          <a:prstGeom prst="rect">
            <a:avLst>
              <a:gd name="adj" fmla="val 1230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31520" y="3867912"/>
            <a:ext cx="54864" cy="59436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29" name="Shape 27"/>
          <p:cNvSpPr/>
          <p:nvPr/>
        </p:nvSpPr>
        <p:spPr>
          <a:xfrm>
            <a:off x="914400" y="3959352"/>
            <a:ext cx="402336" cy="402336"/>
          </a:xfrm>
          <a:prstGeom prst="ellipse">
            <a:avLst/>
          </a:prstGeom>
          <a:solidFill>
            <a:srgbClr val="1A237E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395935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463040" y="3886200"/>
            <a:ext cx="182880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Refresh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291840" y="3886200"/>
            <a:ext cx="4754880" cy="557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leads added, existing data updated, stale contacts removed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796B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Here: $500 Pilot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097280" y="1051560"/>
            <a:ext cx="6949440" cy="3200400"/>
          </a:xfrm>
          <a:prstGeom prst="rect">
            <a:avLst>
              <a:gd name="adj" fmla="val 2286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97280" y="1051560"/>
            <a:ext cx="54864" cy="320040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234440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79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100 Tier 1 Investor Dossiers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2011680" y="1828800"/>
            <a:ext cx="512064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One county of your choice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Fully enriched: phone, email, portfolio, financing, talking points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30-minute walkthrough call included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Delivered in 5 business days
</a:t>
            </a:r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Zero risk: if fewer than 80% of contacts are valid, we re-run at no charge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4434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closed deal from this list = 12x ROI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 Questions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1005840"/>
            <a:ext cx="39319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502920" y="1005840"/>
            <a:ext cx="54864" cy="105156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09728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 the data exclusive?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14173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Your leads are never shared with another originator in your market. We enforce strict geographic exclusivity — once a county is claimed, no competitor sees those leads.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709160" y="1005840"/>
            <a:ext cx="39319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4709160" y="1005840"/>
            <a:ext cx="54864" cy="105156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892040" y="109728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fresh is the data?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92040" y="141732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records update quarterly. Contact data is validated at delivery.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194560"/>
            <a:ext cx="39319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02920" y="2194560"/>
            <a:ext cx="54864" cy="105156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85800" y="228600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if leads don’t convert?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85800" y="2606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pilot guarantee: 80%+ valid contacts or we re-run free.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2194560"/>
            <a:ext cx="39319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709160" y="2194560"/>
            <a:ext cx="54864" cy="105156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892040" y="228600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is this different from PropStream?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892040" y="260604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PropStream gives you a search tool. We give you scored, enriched dossiers with talking points — ready to call.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383280"/>
            <a:ext cx="39319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502920" y="3383280"/>
            <a:ext cx="54864" cy="105156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685800" y="347472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 I choose specific zip codes?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7947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Pilot and Starter let you target specific zips within your counties.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09160" y="3383280"/>
            <a:ext cx="3931920" cy="1051560"/>
          </a:xfrm>
          <a:prstGeom prst="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4709160" y="3383280"/>
            <a:ext cx="54864" cy="1051560"/>
          </a:xfrm>
          <a:prstGeom prst="rect">
            <a:avLst>
              <a:gd name="adj" fmla="val 50000"/>
            </a:avLst>
          </a:prstGeom>
          <a:solidFill>
            <a:srgbClr val="1A237E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892040" y="3474720"/>
            <a:ext cx="3611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37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What’s the contract?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892040" y="3794760"/>
            <a:ext cx="36118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121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is one-time. Subscriptions are month-to-month, cancel anytime.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B26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About Still Mind Creative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3931920" cy="3200400"/>
          </a:xfrm>
          <a:prstGeom prst="rect">
            <a:avLst>
              <a:gd name="adj" fmla="val 2286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457200" y="1051560"/>
            <a:ext cx="54864" cy="3200400"/>
          </a:xfrm>
          <a:prstGeom prst="rect">
            <a:avLst>
              <a:gd name="adj" fmla="val 50000"/>
            </a:avLst>
          </a:prstGeom>
          <a:solidFill>
            <a:srgbClr val="00796B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68580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Zack Lewis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5727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079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85800" y="1965960"/>
            <a:ext cx="347472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Former marketing lead for the largest mortgage team in the United States.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this system after seeing LOs waste thousands on garbage lead lists.</a:t>
            </a: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endParaRPr lang="en-US" sz="11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is identified through proprietary scoring, validated against real investment signals, and enriched with verified contact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3931920" cy="3200400"/>
          </a:xfrm>
          <a:prstGeom prst="rect">
            <a:avLst>
              <a:gd name="adj" fmla="val 2286"/>
            </a:avLst>
          </a:prstGeom>
          <a:solidFill>
            <a:srgbClr val="233840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4754880" y="1051560"/>
            <a:ext cx="54864" cy="3200400"/>
          </a:xfrm>
          <a:prstGeom prst="rect">
            <a:avLst>
              <a:gd name="adj" fmla="val 50000"/>
            </a:avLst>
          </a:prstGeom>
          <a:solidFill>
            <a:srgbClr val="E6510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983480" y="1188720"/>
            <a:ext cx="3474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Still Mind Creative, LLC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983480" y="192024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  zack@stillmindcreative.com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[phone]</a:t>
            </a: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endParaRPr lang="en-US" sz="13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300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stillmindcreative.com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5093208"/>
            <a:ext cx="9144000" cy="54864"/>
          </a:xfrm>
          <a:prstGeom prst="rect">
            <a:avLst/>
          </a:prstGeom>
          <a:solidFill>
            <a:srgbClr val="00796B"/>
          </a:solidFill>
          <a:ln/>
        </p:spPr>
        <p:txBody>
          <a:bodyPr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DSCR Lead Intelligence</dc:title>
  <dc:subject>Pitchbook</dc:subject>
  <dc:creator>Still Mind Creative</dc:creator>
  <cp:lastModifiedBy>Still Mind Creative</cp:lastModifiedBy>
  <cp:revision>1</cp:revision>
  <dcterms:created xsi:type="dcterms:W3CDTF">2026-03-15T22:44:53Z</dcterms:created>
  <dcterms:modified xsi:type="dcterms:W3CDTF">2026-03-15T22:44:53Z</dcterms:modified>
</cp:coreProperties>
</file>